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704020202020204"/>
      <p:regular r:id="rId19"/>
    </p:embeddedFont>
    <p:embeddedFont>
      <p:font typeface="Arial" charset="1" panose="020B0604020202020204"/>
      <p:regular r:id="rId20"/>
    </p:embeddedFont>
    <p:embeddedFont>
      <p:font typeface="Arial Italics" charset="1" panose="020B060402020209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https://laplateforme-team-ggwqda0j.atlassian.net/wiki/spaces/ProjetGlob/pages/81199130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https://laplateforme-team-ggwqda0j.atlassian.net/jira/software/projects/GLOBE/boards/137" TargetMode="External" Type="http://schemas.openxmlformats.org/officeDocument/2006/relationships/hyperlink"/><Relationship Id="rId5" Target="https://laplateforme-team-ggwqda0j.atlassian.net/wiki/x/sACwB" TargetMode="External" Type="http://schemas.openxmlformats.org/officeDocument/2006/relationships/hyperlink"/><Relationship Id="rId6" Target="https://miro.com/app/board/uXjVEdlIf0E=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https://laplateforme-team-ggwqda0j.atlassian.net/wiki/spaces/ProjetGlob/pages/79265794" TargetMode="External" Type="http://schemas.openxmlformats.org/officeDocument/2006/relationships/hyperlink"/><Relationship Id="rId5" Target="https://laplateforme-team-ggwqda0j.atlassian.net/wiki/spaces/ProjetGlob/pages/81395965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https://miro.com/app/board/uXjVEdlIf0E=/?moveToWidget=3458764686772737704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https://laplateforme-team-ggwqda0j.atlassian.net/wiki/spaces/ProjetGlob/pages/80642049" TargetMode="External" Type="http://schemas.openxmlformats.org/officeDocument/2006/relationships/hyperlink"/><Relationship Id="rId6" Target="https://laplateforme-team-ggwqda0j.atlassian.net/wiki/spaces/ProjetGlob/pages/80150552" TargetMode="External" Type="http://schemas.openxmlformats.org/officeDocument/2006/relationships/hyperlink"/><Relationship Id="rId7" Target="https://miro.com/app/board/uXjVEdlIf0E=/?moveToWidget=3458764686846792837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https://laplateforme-team-ggwqda0j.atlassian.net/wiki/spaces/ProjetGlob/pages/80150618" TargetMode="External" Type="http://schemas.openxmlformats.org/officeDocument/2006/relationships/hyperlink"/><Relationship Id="rId6" Target="https://miro.com/app/board/uXjVEdlIf0E=/?moveToWidget=3458764686846956960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https://laplateforme-team-ggwqda0j.atlassian.net/wiki/spaces/ProjetGlob/pages/80150636" TargetMode="External" Type="http://schemas.openxmlformats.org/officeDocument/2006/relationships/hyperlink"/><Relationship Id="rId6" Target="https://laplateforme-team-ggwqda0j.atlassian.net/wiki/spaces/ProjetGlob/pages/81199229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https://laplateforme-team-ggwqda0j.atlassian.net/jira/software/projects/GLOBE/boards/137" TargetMode="External" Type="http://schemas.openxmlformats.org/officeDocument/2006/relationships/hyperlink"/><Relationship Id="rId5" Target="https://laplateforme-team-ggwqda0j.atlassian.net/wiki/x/sACwB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78240" y="0"/>
            <a:ext cx="9509760" cy="10287000"/>
            <a:chOff x="0" y="0"/>
            <a:chExt cx="12679680" cy="13716000"/>
          </a:xfrm>
        </p:grpSpPr>
        <p:sp>
          <p:nvSpPr>
            <p:cNvPr name="Freeform 3" id="3" descr="/tmp/claude-0/-home-claude/77b501a0-5868-55ab-b1fe-b843a7d2ca4a/scratchpad/onb/img/hero_c.png"/>
            <p:cNvSpPr/>
            <p:nvPr/>
          </p:nvSpPr>
          <p:spPr>
            <a:xfrm flipH="false" flipV="false" rot="0">
              <a:off x="0" y="0"/>
              <a:ext cx="1267968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4" r="0" b="-4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0"/>
            <a:ext cx="7315200" cy="640080"/>
            <a:chOff x="0" y="0"/>
            <a:chExt cx="9753600" cy="853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7536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 spc="799">
                  <a:solidFill>
                    <a:srgbClr val="00B4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ONBOARDING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2531745"/>
            <a:ext cx="7680960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Bienvenue sur Globe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4846320"/>
            <a:ext cx="7498080" cy="1097280"/>
            <a:chOff x="0" y="0"/>
            <a:chExt cx="9997440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9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147" r="0" b="-831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9974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Guide du nouveau développeur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7863840"/>
            <a:ext cx="7498080" cy="1280160"/>
            <a:chOff x="0" y="0"/>
            <a:chExt cx="9997440" cy="1706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74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99744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Octobre 2026</a:t>
              </a:r>
            </a:p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Lucas Martinie de Maisonneuve · Vanny-Laure Lamorte · Baptiste Appriou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GLOBE EN BREF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1992630"/>
            <a:ext cx="5486400" cy="355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Le problème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Documents envoyés par e-mail, informations dispersées, profils étudiants jamais à jour.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L'objectif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Un intranet unique qui centralise profils, documents, projets et suivi pédagogique.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45303" y="1998983"/>
            <a:ext cx="3317243" cy="4780283"/>
            <a:chOff x="0" y="0"/>
            <a:chExt cx="4422991" cy="63737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23029" cy="6373749"/>
            </a:xfrm>
            <a:custGeom>
              <a:avLst/>
              <a:gdLst/>
              <a:ahLst/>
              <a:cxnLst/>
              <a:rect r="r" b="b" t="t" l="l"/>
              <a:pathLst>
                <a:path h="6373749" w="442302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226433" y="0"/>
                  </a:lnTo>
                  <a:cubicBezTo>
                    <a:pt x="4335018" y="0"/>
                    <a:pt x="4423029" y="88011"/>
                    <a:pt x="4423029" y="196596"/>
                  </a:cubicBezTo>
                  <a:lnTo>
                    <a:pt x="4423029" y="6177153"/>
                  </a:lnTo>
                  <a:cubicBezTo>
                    <a:pt x="4423029" y="6285738"/>
                    <a:pt x="4335018" y="6373749"/>
                    <a:pt x="4226433" y="6373749"/>
                  </a:cubicBezTo>
                  <a:lnTo>
                    <a:pt x="196596" y="6373749"/>
                  </a:lnTo>
                  <a:cubicBezTo>
                    <a:pt x="88011" y="6373749"/>
                    <a:pt x="0" y="6285738"/>
                    <a:pt x="0" y="6177153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132320" y="2212086"/>
            <a:ext cx="27432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Étudiants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32320" y="3282315"/>
            <a:ext cx="2743200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Profil, dépôt des documents, projets, compétences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502903" y="1998983"/>
            <a:ext cx="3317243" cy="4780283"/>
            <a:chOff x="0" y="0"/>
            <a:chExt cx="4422991" cy="63737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23029" cy="6373749"/>
            </a:xfrm>
            <a:custGeom>
              <a:avLst/>
              <a:gdLst/>
              <a:ahLst/>
              <a:cxnLst/>
              <a:rect r="r" b="b" t="t" l="l"/>
              <a:pathLst>
                <a:path h="6373749" w="442302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226433" y="0"/>
                  </a:lnTo>
                  <a:cubicBezTo>
                    <a:pt x="4335018" y="0"/>
                    <a:pt x="4423029" y="88011"/>
                    <a:pt x="4423029" y="196596"/>
                  </a:cubicBezTo>
                  <a:lnTo>
                    <a:pt x="4423029" y="6177153"/>
                  </a:lnTo>
                  <a:cubicBezTo>
                    <a:pt x="4423029" y="6285738"/>
                    <a:pt x="4335018" y="6373749"/>
                    <a:pt x="4226433" y="6373749"/>
                  </a:cubicBezTo>
                  <a:lnTo>
                    <a:pt x="196596" y="6373749"/>
                  </a:lnTo>
                  <a:cubicBezTo>
                    <a:pt x="88011" y="6373749"/>
                    <a:pt x="0" y="6285738"/>
                    <a:pt x="0" y="6177153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0789920" y="2212086"/>
            <a:ext cx="27432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Équipe pédagogique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89920" y="3282315"/>
            <a:ext cx="2743200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Promotions, projets, groupes, suivi et statistiques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160503" y="1998983"/>
            <a:ext cx="3317243" cy="4780283"/>
            <a:chOff x="0" y="0"/>
            <a:chExt cx="4422991" cy="63737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23029" cy="6373749"/>
            </a:xfrm>
            <a:custGeom>
              <a:avLst/>
              <a:gdLst/>
              <a:ahLst/>
              <a:cxnLst/>
              <a:rect r="r" b="b" t="t" l="l"/>
              <a:pathLst>
                <a:path h="6373749" w="442302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4226433" y="0"/>
                  </a:lnTo>
                  <a:cubicBezTo>
                    <a:pt x="4335018" y="0"/>
                    <a:pt x="4423029" y="88011"/>
                    <a:pt x="4423029" y="196596"/>
                  </a:cubicBezTo>
                  <a:lnTo>
                    <a:pt x="4423029" y="6177153"/>
                  </a:lnTo>
                  <a:cubicBezTo>
                    <a:pt x="4423029" y="6285738"/>
                    <a:pt x="4335018" y="6373749"/>
                    <a:pt x="4226433" y="6373749"/>
                  </a:cubicBezTo>
                  <a:lnTo>
                    <a:pt x="196596" y="6373749"/>
                  </a:lnTo>
                  <a:cubicBezTo>
                    <a:pt x="88011" y="6373749"/>
                    <a:pt x="0" y="6285738"/>
                    <a:pt x="0" y="6177153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447520" y="2212086"/>
            <a:ext cx="27432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Administration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47520" y="3282315"/>
            <a:ext cx="2743200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Vérifie les documents, suit les dossiers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1703" y="7302503"/>
            <a:ext cx="16484603" cy="1397003"/>
            <a:chOff x="0" y="0"/>
            <a:chExt cx="21979471" cy="1862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79382" cy="1862582"/>
            </a:xfrm>
            <a:custGeom>
              <a:avLst/>
              <a:gdLst/>
              <a:ahLst/>
              <a:cxnLst/>
              <a:rect r="r" b="b" t="t" l="l"/>
              <a:pathLst>
                <a:path h="1862582" w="21979382">
                  <a:moveTo>
                    <a:pt x="0" y="198628"/>
                  </a:moveTo>
                  <a:cubicBezTo>
                    <a:pt x="0" y="88900"/>
                    <a:pt x="88900" y="0"/>
                    <a:pt x="198628" y="0"/>
                  </a:cubicBezTo>
                  <a:lnTo>
                    <a:pt x="21780754" y="0"/>
                  </a:lnTo>
                  <a:cubicBezTo>
                    <a:pt x="21890482" y="0"/>
                    <a:pt x="21979382" y="88900"/>
                    <a:pt x="21979382" y="198628"/>
                  </a:cubicBezTo>
                  <a:lnTo>
                    <a:pt x="21979382" y="1663954"/>
                  </a:lnTo>
                  <a:cubicBezTo>
                    <a:pt x="21979382" y="1773682"/>
                    <a:pt x="21890482" y="1862582"/>
                    <a:pt x="21780754" y="1862582"/>
                  </a:cubicBezTo>
                  <a:lnTo>
                    <a:pt x="198628" y="1862582"/>
                  </a:lnTo>
                  <a:cubicBezTo>
                    <a:pt x="88900" y="1862709"/>
                    <a:pt x="0" y="1773682"/>
                    <a:pt x="0" y="1663954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7315200"/>
            <a:ext cx="15727680" cy="1371600"/>
            <a:chOff x="0" y="0"/>
            <a:chExt cx="2097024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428" r="0" b="-1734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097024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Premier cas d'usage : </a:t>
              </a:r>
              <a:r>
                <a:rPr lang="en-US" sz="2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 dépôt et le traitement des documents administratifs. C'est lui qui sert d'exemple dans toute la documentation.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L'ÉQUIPE ET QUI CONTACTER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98983"/>
            <a:ext cx="5146043" cy="4688843"/>
            <a:chOff x="0" y="0"/>
            <a:chExt cx="6861391" cy="6251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61302" cy="6251702"/>
            </a:xfrm>
            <a:custGeom>
              <a:avLst/>
              <a:gdLst/>
              <a:ahLst/>
              <a:cxnLst/>
              <a:rect r="r" b="b" t="t" l="l"/>
              <a:pathLst>
                <a:path h="6251702" w="686130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665214" y="0"/>
                  </a:lnTo>
                  <a:cubicBezTo>
                    <a:pt x="6773545" y="0"/>
                    <a:pt x="6861302" y="87757"/>
                    <a:pt x="6861302" y="196088"/>
                  </a:cubicBezTo>
                  <a:lnTo>
                    <a:pt x="6861302" y="6055614"/>
                  </a:lnTo>
                  <a:cubicBezTo>
                    <a:pt x="6861302" y="6163945"/>
                    <a:pt x="6773545" y="6251702"/>
                    <a:pt x="666521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67463" y="2364743"/>
            <a:ext cx="1214123" cy="1214123"/>
            <a:chOff x="0" y="0"/>
            <a:chExt cx="1618831" cy="16188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2377440"/>
            <a:ext cx="1188720" cy="1188720"/>
            <a:chOff x="0" y="0"/>
            <a:chExt cx="1584960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58496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LM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80160" y="3729990"/>
            <a:ext cx="43891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Lucas Martinie de Maisonneuve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80160" y="4663440"/>
            <a:ext cx="4389120" cy="512064"/>
            <a:chOff x="0" y="0"/>
            <a:chExt cx="585216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8521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Référent technique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80160" y="5193030"/>
            <a:ext cx="43891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Architecture, base de données, sécurité, revues de code. Ton premier contact.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570983" y="1998983"/>
            <a:ext cx="5146043" cy="4688843"/>
            <a:chOff x="0" y="0"/>
            <a:chExt cx="6861391" cy="6251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1302" cy="6251702"/>
            </a:xfrm>
            <a:custGeom>
              <a:avLst/>
              <a:gdLst/>
              <a:ahLst/>
              <a:cxnLst/>
              <a:rect r="r" b="b" t="t" l="l"/>
              <a:pathLst>
                <a:path h="6251702" w="686130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665214" y="0"/>
                  </a:lnTo>
                  <a:cubicBezTo>
                    <a:pt x="6773545" y="0"/>
                    <a:pt x="6861302" y="87757"/>
                    <a:pt x="6861302" y="196088"/>
                  </a:cubicBezTo>
                  <a:lnTo>
                    <a:pt x="6861302" y="6055614"/>
                  </a:lnTo>
                  <a:cubicBezTo>
                    <a:pt x="6861302" y="6163945"/>
                    <a:pt x="6773545" y="6251702"/>
                    <a:pt x="666521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936743" y="2364743"/>
            <a:ext cx="1214123" cy="1214123"/>
            <a:chOff x="0" y="0"/>
            <a:chExt cx="1618831" cy="161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49440" y="2377440"/>
            <a:ext cx="1188720" cy="1188720"/>
            <a:chOff x="0" y="0"/>
            <a:chExt cx="158496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8496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VL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949440" y="3729990"/>
            <a:ext cx="43891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Vanny-Laure Lamorte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949440" y="4663440"/>
            <a:ext cx="4389120" cy="512064"/>
            <a:chOff x="0" y="0"/>
            <a:chExt cx="5852160" cy="6827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8521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Cheffe de projet · Scrum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949440" y="5193030"/>
            <a:ext cx="43891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Planning, sprints, priorités du backlog, organisation de l'équipe.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240263" y="1998983"/>
            <a:ext cx="5146043" cy="4688843"/>
            <a:chOff x="0" y="0"/>
            <a:chExt cx="6861391" cy="6251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61302" cy="6251702"/>
            </a:xfrm>
            <a:custGeom>
              <a:avLst/>
              <a:gdLst/>
              <a:ahLst/>
              <a:cxnLst/>
              <a:rect r="r" b="b" t="t" l="l"/>
              <a:pathLst>
                <a:path h="6251702" w="6861302">
                  <a:moveTo>
                    <a:pt x="0" y="196088"/>
                  </a:moveTo>
                  <a:cubicBezTo>
                    <a:pt x="0" y="87757"/>
                    <a:pt x="87757" y="0"/>
                    <a:pt x="196088" y="0"/>
                  </a:cubicBezTo>
                  <a:lnTo>
                    <a:pt x="6665214" y="0"/>
                  </a:lnTo>
                  <a:cubicBezTo>
                    <a:pt x="6773545" y="0"/>
                    <a:pt x="6861302" y="87757"/>
                    <a:pt x="6861302" y="196088"/>
                  </a:cubicBezTo>
                  <a:lnTo>
                    <a:pt x="6861302" y="6055614"/>
                  </a:lnTo>
                  <a:cubicBezTo>
                    <a:pt x="6861302" y="6163945"/>
                    <a:pt x="6773545" y="6251702"/>
                    <a:pt x="6665214" y="6251702"/>
                  </a:cubicBezTo>
                  <a:lnTo>
                    <a:pt x="196088" y="6251702"/>
                  </a:lnTo>
                  <a:cubicBezTo>
                    <a:pt x="87757" y="6251829"/>
                    <a:pt x="0" y="6163945"/>
                    <a:pt x="0" y="6055614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606023" y="2364743"/>
            <a:ext cx="1214123" cy="1214123"/>
            <a:chOff x="0" y="0"/>
            <a:chExt cx="1618831" cy="16188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618720" y="2377440"/>
            <a:ext cx="1188720" cy="1188720"/>
            <a:chOff x="0" y="0"/>
            <a:chExt cx="1584960" cy="15849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849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584960" cy="1613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618720" y="3729990"/>
            <a:ext cx="43891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Baptiste Appriou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618720" y="4663440"/>
            <a:ext cx="4389120" cy="512064"/>
            <a:chOff x="0" y="0"/>
            <a:chExt cx="5852160" cy="6827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85216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Fonctionnel / Qualité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618720" y="5193030"/>
            <a:ext cx="43891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Besoins, user stories, stratégie de tests et cahier de recettes.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14400" y="7223760"/>
            <a:ext cx="16459200" cy="1097280"/>
            <a:chOff x="0" y="0"/>
            <a:chExt cx="2194560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2194560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Rythme : </a:t>
              </a:r>
              <a:r>
                <a:rPr lang="en-US" sz="26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sprints d'un mois (S1 à S12) · point d'avancement en fin de sprint · sprint review ouverte au client.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4" tooltip="https://laplateforme-team-ggwqda0j.atlassian.net/wiki/spaces/ProjetGlob/pages/81199130"/>
                </a:rPr>
                <a:t>Organisation de l'équipe (Confluence)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 OUTILS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998983"/>
            <a:ext cx="8072123" cy="2860043"/>
            <a:chOff x="0" y="0"/>
            <a:chExt cx="10762831" cy="38133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62869" cy="3813429"/>
            </a:xfrm>
            <a:custGeom>
              <a:avLst/>
              <a:gdLst/>
              <a:ahLst/>
              <a:cxnLst/>
              <a:rect r="r" b="b" t="t" l="l"/>
              <a:pathLst>
                <a:path h="3813429" w="107628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566019" y="0"/>
                  </a:lnTo>
                  <a:cubicBezTo>
                    <a:pt x="10674731" y="0"/>
                    <a:pt x="10762869" y="88138"/>
                    <a:pt x="10762869" y="196850"/>
                  </a:cubicBezTo>
                  <a:lnTo>
                    <a:pt x="10762869" y="3616579"/>
                  </a:lnTo>
                  <a:cubicBezTo>
                    <a:pt x="10762869" y="3725291"/>
                    <a:pt x="10674731" y="3813429"/>
                    <a:pt x="10566019" y="3813429"/>
                  </a:cubicBezTo>
                  <a:lnTo>
                    <a:pt x="196850" y="3813429"/>
                  </a:lnTo>
                  <a:cubicBezTo>
                    <a:pt x="88138" y="3813429"/>
                    <a:pt x="0" y="3725291"/>
                    <a:pt x="0" y="3616579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2286000"/>
            <a:ext cx="7315200" cy="621841"/>
            <a:chOff x="0" y="0"/>
            <a:chExt cx="9753600" cy="8291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829121"/>
            </a:xfrm>
            <a:custGeom>
              <a:avLst/>
              <a:gdLst/>
              <a:ahLst/>
              <a:cxnLst/>
              <a:rect r="r" b="b" t="t" l="l"/>
              <a:pathLst>
                <a:path h="8291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29121"/>
                  </a:lnTo>
                  <a:lnTo>
                    <a:pt x="0" y="829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162" r="0" b="-1762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753600" cy="8481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Jira - projet GLOBE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0160" y="2953131"/>
            <a:ext cx="7315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Backlog et sprints. Les étiquettes Must / Should / Could donnent la priorité.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80160" y="4114800"/>
            <a:ext cx="7315200" cy="512064"/>
            <a:chOff x="0" y="0"/>
            <a:chExt cx="975360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u="sng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  <a:hlinkClick r:id="rId4" tooltip="https://laplateforme-team-ggwqda0j.atlassian.net/jira/software/projects/GLOBE/boards/137"/>
                </a:rPr>
                <a:t>Ouvrir le tableau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14183" y="1998983"/>
            <a:ext cx="8072123" cy="2860043"/>
            <a:chOff x="0" y="0"/>
            <a:chExt cx="10762831" cy="38133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62869" cy="3813429"/>
            </a:xfrm>
            <a:custGeom>
              <a:avLst/>
              <a:gdLst/>
              <a:ahLst/>
              <a:cxnLst/>
              <a:rect r="r" b="b" t="t" l="l"/>
              <a:pathLst>
                <a:path h="3813429" w="107628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566019" y="0"/>
                  </a:lnTo>
                  <a:cubicBezTo>
                    <a:pt x="10674731" y="0"/>
                    <a:pt x="10762869" y="88138"/>
                    <a:pt x="10762869" y="196850"/>
                  </a:cubicBezTo>
                  <a:lnTo>
                    <a:pt x="10762869" y="3616579"/>
                  </a:lnTo>
                  <a:cubicBezTo>
                    <a:pt x="10762869" y="3725291"/>
                    <a:pt x="10674731" y="3813429"/>
                    <a:pt x="10566019" y="3813429"/>
                  </a:cubicBezTo>
                  <a:lnTo>
                    <a:pt x="196850" y="3813429"/>
                  </a:lnTo>
                  <a:cubicBezTo>
                    <a:pt x="88138" y="3813429"/>
                    <a:pt x="0" y="3725291"/>
                    <a:pt x="0" y="3616579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92640" y="2286000"/>
            <a:ext cx="7315200" cy="585216"/>
            <a:chOff x="0" y="0"/>
            <a:chExt cx="9753600" cy="7802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753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Confluence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92640" y="2953131"/>
            <a:ext cx="7315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La documentation de référence : architecture, base de données, user stories, déploiement.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692640" y="4114800"/>
            <a:ext cx="7315200" cy="512064"/>
            <a:chOff x="0" y="0"/>
            <a:chExt cx="975360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u="sng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  <a:hlinkClick r:id="rId5" tooltip="https://laplateforme-team-ggwqda0j.atlassian.net/wiki/x/sACwB"/>
                </a:rPr>
                <a:t>Ouvrir l'espace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1703" y="5199383"/>
            <a:ext cx="8072123" cy="2860043"/>
            <a:chOff x="0" y="0"/>
            <a:chExt cx="10762831" cy="3813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869" cy="3813429"/>
            </a:xfrm>
            <a:custGeom>
              <a:avLst/>
              <a:gdLst/>
              <a:ahLst/>
              <a:cxnLst/>
              <a:rect r="r" b="b" t="t" l="l"/>
              <a:pathLst>
                <a:path h="3813429" w="107628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566019" y="0"/>
                  </a:lnTo>
                  <a:cubicBezTo>
                    <a:pt x="10674731" y="0"/>
                    <a:pt x="10762869" y="88138"/>
                    <a:pt x="10762869" y="196850"/>
                  </a:cubicBezTo>
                  <a:lnTo>
                    <a:pt x="10762869" y="3616579"/>
                  </a:lnTo>
                  <a:cubicBezTo>
                    <a:pt x="10762869" y="3725291"/>
                    <a:pt x="10674731" y="3813429"/>
                    <a:pt x="10566019" y="3813429"/>
                  </a:cubicBezTo>
                  <a:lnTo>
                    <a:pt x="196850" y="3813429"/>
                  </a:lnTo>
                  <a:cubicBezTo>
                    <a:pt x="88138" y="3813429"/>
                    <a:pt x="0" y="3725291"/>
                    <a:pt x="0" y="3616579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160" y="5486400"/>
            <a:ext cx="7315200" cy="585216"/>
            <a:chOff x="0" y="0"/>
            <a:chExt cx="97536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753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Miro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80160" y="6153531"/>
            <a:ext cx="7315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Les schémas : MCD, MLD, MPD, UML, sécurité, déploiement, story map.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80160" y="7315200"/>
            <a:ext cx="7315200" cy="512064"/>
            <a:chOff x="0" y="0"/>
            <a:chExt cx="975360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975360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b="true" sz="2199" u="sng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  <a:hlinkClick r:id="rId6" tooltip="https://miro.com/app/board/uXjVEdlIf0E=/"/>
                </a:rPr>
                <a:t>Ouvrir le tableau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4183" y="5199383"/>
            <a:ext cx="8072123" cy="2860043"/>
            <a:chOff x="0" y="0"/>
            <a:chExt cx="10762831" cy="38133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762869" cy="3813429"/>
            </a:xfrm>
            <a:custGeom>
              <a:avLst/>
              <a:gdLst/>
              <a:ahLst/>
              <a:cxnLst/>
              <a:rect r="r" b="b" t="t" l="l"/>
              <a:pathLst>
                <a:path h="3813429" w="10762869">
                  <a:moveTo>
                    <a:pt x="0" y="196850"/>
                  </a:moveTo>
                  <a:cubicBezTo>
                    <a:pt x="0" y="88138"/>
                    <a:pt x="88138" y="0"/>
                    <a:pt x="196850" y="0"/>
                  </a:cubicBezTo>
                  <a:lnTo>
                    <a:pt x="10566019" y="0"/>
                  </a:lnTo>
                  <a:cubicBezTo>
                    <a:pt x="10674731" y="0"/>
                    <a:pt x="10762869" y="88138"/>
                    <a:pt x="10762869" y="196850"/>
                  </a:cubicBezTo>
                  <a:lnTo>
                    <a:pt x="10762869" y="3616579"/>
                  </a:lnTo>
                  <a:cubicBezTo>
                    <a:pt x="10762869" y="3725291"/>
                    <a:pt x="10674731" y="3813429"/>
                    <a:pt x="10566019" y="3813429"/>
                  </a:cubicBezTo>
                  <a:lnTo>
                    <a:pt x="196850" y="3813429"/>
                  </a:lnTo>
                  <a:cubicBezTo>
                    <a:pt x="88138" y="3813429"/>
                    <a:pt x="0" y="3725291"/>
                    <a:pt x="0" y="3616579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692640" y="5486400"/>
            <a:ext cx="7315200" cy="585216"/>
            <a:chOff x="0" y="0"/>
            <a:chExt cx="975360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75360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692640" y="6153531"/>
            <a:ext cx="7315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Le code, les Pull Requests et la CI (GitHub Actions). Accès donné par Lucas.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21945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Connexion à l'application : </a:t>
              </a:r>
              <a:r>
                <a:rPr lang="en-US" sz="24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ton compte Google La Plateforme, rien d'autre.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ARCHITECTURE ET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78682" y="1812922"/>
            <a:ext cx="4420867" cy="1037587"/>
            <a:chOff x="0" y="0"/>
            <a:chExt cx="5894489" cy="13834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94451" cy="1383411"/>
            </a:xfrm>
            <a:custGeom>
              <a:avLst/>
              <a:gdLst/>
              <a:ahLst/>
              <a:cxnLst/>
              <a:rect r="r" b="b" t="t" l="l"/>
              <a:pathLst>
                <a:path h="1383411" w="589445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743575" y="0"/>
                  </a:lnTo>
                  <a:cubicBezTo>
                    <a:pt x="5826887" y="0"/>
                    <a:pt x="5894451" y="67564"/>
                    <a:pt x="5894451" y="150876"/>
                  </a:cubicBezTo>
                  <a:lnTo>
                    <a:pt x="5894451" y="1232535"/>
                  </a:lnTo>
                  <a:cubicBezTo>
                    <a:pt x="5894451" y="1315847"/>
                    <a:pt x="5826887" y="1383411"/>
                    <a:pt x="5743575" y="1383411"/>
                  </a:cubicBezTo>
                  <a:lnTo>
                    <a:pt x="150876" y="1383411"/>
                  </a:lnTo>
                  <a:cubicBezTo>
                    <a:pt x="67564" y="1383411"/>
                    <a:pt x="0" y="1315847"/>
                    <a:pt x="0" y="1232535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194560" y="1828800"/>
            <a:ext cx="4389120" cy="1005840"/>
            <a:chOff x="0" y="0"/>
            <a:chExt cx="5852160" cy="1341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8521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Navigateur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Application React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78682" y="3367402"/>
            <a:ext cx="4420867" cy="1037587"/>
            <a:chOff x="0" y="0"/>
            <a:chExt cx="5894489" cy="13834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94451" cy="1383411"/>
            </a:xfrm>
            <a:custGeom>
              <a:avLst/>
              <a:gdLst/>
              <a:ahLst/>
              <a:cxnLst/>
              <a:rect r="r" b="b" t="t" l="l"/>
              <a:pathLst>
                <a:path h="1383411" w="589445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743575" y="0"/>
                  </a:lnTo>
                  <a:cubicBezTo>
                    <a:pt x="5826887" y="0"/>
                    <a:pt x="5894451" y="67564"/>
                    <a:pt x="5894451" y="150876"/>
                  </a:cubicBezTo>
                  <a:lnTo>
                    <a:pt x="5894451" y="1232535"/>
                  </a:lnTo>
                  <a:cubicBezTo>
                    <a:pt x="5894451" y="1315847"/>
                    <a:pt x="5826887" y="1383411"/>
                    <a:pt x="5743575" y="1383411"/>
                  </a:cubicBezTo>
                  <a:lnTo>
                    <a:pt x="150876" y="1383411"/>
                  </a:lnTo>
                  <a:cubicBezTo>
                    <a:pt x="67564" y="1383411"/>
                    <a:pt x="0" y="1315847"/>
                    <a:pt x="0" y="1232535"/>
                  </a:cubicBezTo>
                  <a:close/>
                </a:path>
              </a:pathLst>
            </a:custGeom>
            <a:solidFill>
              <a:srgbClr val="E2F7FB"/>
            </a:solidFill>
            <a:ln w="3175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383280"/>
            <a:ext cx="4389120" cy="1005840"/>
            <a:chOff x="0" y="0"/>
            <a:chExt cx="585216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8521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Nginx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HTTPS, reverse proxy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78682" y="4921882"/>
            <a:ext cx="4420867" cy="1311907"/>
            <a:chOff x="0" y="0"/>
            <a:chExt cx="5894489" cy="17492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94578" cy="1749298"/>
            </a:xfrm>
            <a:custGeom>
              <a:avLst/>
              <a:gdLst/>
              <a:ahLst/>
              <a:cxnLst/>
              <a:rect r="r" b="b" t="t" l="l"/>
              <a:pathLst>
                <a:path h="1749298" w="5894578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5744591" y="0"/>
                  </a:lnTo>
                  <a:cubicBezTo>
                    <a:pt x="5827395" y="0"/>
                    <a:pt x="5894578" y="67183"/>
                    <a:pt x="5894578" y="149987"/>
                  </a:cubicBezTo>
                  <a:lnTo>
                    <a:pt x="5894578" y="1599311"/>
                  </a:lnTo>
                  <a:cubicBezTo>
                    <a:pt x="5894578" y="1682115"/>
                    <a:pt x="5827395" y="1749298"/>
                    <a:pt x="5744591" y="1749298"/>
                  </a:cubicBezTo>
                  <a:lnTo>
                    <a:pt x="149987" y="1749298"/>
                  </a:lnTo>
                  <a:cubicBezTo>
                    <a:pt x="67183" y="1749171"/>
                    <a:pt x="0" y="1682115"/>
                    <a:pt x="0" y="1599311"/>
                  </a:cubicBezTo>
                  <a:close/>
                </a:path>
              </a:pathLst>
            </a:custGeom>
            <a:solidFill>
              <a:srgbClr val="E2F7FB"/>
            </a:solidFill>
            <a:ln w="3175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194560" y="4937760"/>
            <a:ext cx="4389120" cy="1280160"/>
            <a:chOff x="0" y="0"/>
            <a:chExt cx="5852160" cy="1706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85216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Spring Boot (Java)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Spring Security · Flyway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78682" y="6750682"/>
            <a:ext cx="4420867" cy="1037587"/>
            <a:chOff x="0" y="0"/>
            <a:chExt cx="5894489" cy="13834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94451" cy="1383411"/>
            </a:xfrm>
            <a:custGeom>
              <a:avLst/>
              <a:gdLst/>
              <a:ahLst/>
              <a:cxnLst/>
              <a:rect r="r" b="b" t="t" l="l"/>
              <a:pathLst>
                <a:path h="1383411" w="589445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743575" y="0"/>
                  </a:lnTo>
                  <a:cubicBezTo>
                    <a:pt x="5826887" y="0"/>
                    <a:pt x="5894451" y="67564"/>
                    <a:pt x="5894451" y="150876"/>
                  </a:cubicBezTo>
                  <a:lnTo>
                    <a:pt x="5894451" y="1232535"/>
                  </a:lnTo>
                  <a:cubicBezTo>
                    <a:pt x="5894451" y="1315847"/>
                    <a:pt x="5826887" y="1383411"/>
                    <a:pt x="5743575" y="1383411"/>
                  </a:cubicBezTo>
                  <a:lnTo>
                    <a:pt x="150876" y="1383411"/>
                  </a:lnTo>
                  <a:cubicBezTo>
                    <a:pt x="67564" y="1383411"/>
                    <a:pt x="0" y="1315847"/>
                    <a:pt x="0" y="1232535"/>
                  </a:cubicBezTo>
                  <a:close/>
                </a:path>
              </a:pathLst>
            </a:custGeom>
            <a:solidFill>
              <a:srgbClr val="E2F7FB"/>
            </a:solidFill>
            <a:ln w="3175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2194560" y="6766560"/>
            <a:ext cx="4389120" cy="1005840"/>
            <a:chOff x="0" y="0"/>
            <a:chExt cx="585216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25" r="0" b="-3502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585216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PostgreSQL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volume persistant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390762" y="4281802"/>
            <a:ext cx="2957827" cy="1037587"/>
            <a:chOff x="0" y="0"/>
            <a:chExt cx="3943769" cy="13834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43731" cy="1383411"/>
            </a:xfrm>
            <a:custGeom>
              <a:avLst/>
              <a:gdLst/>
              <a:ahLst/>
              <a:cxnLst/>
              <a:rect r="r" b="b" t="t" l="l"/>
              <a:pathLst>
                <a:path h="1383411" w="394373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3792855" y="0"/>
                  </a:lnTo>
                  <a:cubicBezTo>
                    <a:pt x="3876167" y="0"/>
                    <a:pt x="3943731" y="67564"/>
                    <a:pt x="3943731" y="150876"/>
                  </a:cubicBezTo>
                  <a:lnTo>
                    <a:pt x="3943731" y="1232535"/>
                  </a:lnTo>
                  <a:cubicBezTo>
                    <a:pt x="3943731" y="1315847"/>
                    <a:pt x="3876167" y="1383411"/>
                    <a:pt x="3792855" y="1383411"/>
                  </a:cubicBezTo>
                  <a:lnTo>
                    <a:pt x="150876" y="1383411"/>
                  </a:lnTo>
                  <a:cubicBezTo>
                    <a:pt x="67564" y="1383411"/>
                    <a:pt x="0" y="1315847"/>
                    <a:pt x="0" y="1232535"/>
                  </a:cubicBezTo>
                  <a:close/>
                </a:path>
              </a:pathLst>
            </a:custGeom>
            <a:solidFill>
              <a:srgbClr val="EEEEEA"/>
            </a:solidFill>
            <a:ln w="31750" cap="sq">
              <a:solidFill>
                <a:srgbClr val="8A8A7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406640" y="4297680"/>
            <a:ext cx="2926080" cy="1005840"/>
            <a:chOff x="0" y="0"/>
            <a:chExt cx="3901440" cy="134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901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Google OIDC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connexion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390762" y="5744842"/>
            <a:ext cx="2957827" cy="1037587"/>
            <a:chOff x="0" y="0"/>
            <a:chExt cx="3943769" cy="13834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43731" cy="1383411"/>
            </a:xfrm>
            <a:custGeom>
              <a:avLst/>
              <a:gdLst/>
              <a:ahLst/>
              <a:cxnLst/>
              <a:rect r="r" b="b" t="t" l="l"/>
              <a:pathLst>
                <a:path h="1383411" w="3943731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3792855" y="0"/>
                  </a:lnTo>
                  <a:cubicBezTo>
                    <a:pt x="3876167" y="0"/>
                    <a:pt x="3943731" y="67564"/>
                    <a:pt x="3943731" y="150876"/>
                  </a:cubicBezTo>
                  <a:lnTo>
                    <a:pt x="3943731" y="1232535"/>
                  </a:lnTo>
                  <a:cubicBezTo>
                    <a:pt x="3943731" y="1315847"/>
                    <a:pt x="3876167" y="1383411"/>
                    <a:pt x="3792855" y="1383411"/>
                  </a:cubicBezTo>
                  <a:lnTo>
                    <a:pt x="150876" y="1383411"/>
                  </a:lnTo>
                  <a:cubicBezTo>
                    <a:pt x="67564" y="1383411"/>
                    <a:pt x="0" y="1315847"/>
                    <a:pt x="0" y="1232535"/>
                  </a:cubicBezTo>
                  <a:close/>
                </a:path>
              </a:pathLst>
            </a:custGeom>
            <a:solidFill>
              <a:srgbClr val="EEEEEA"/>
            </a:solidFill>
            <a:ln w="31750" cap="sq">
              <a:solidFill>
                <a:srgbClr val="8A8A7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406640" y="5760720"/>
            <a:ext cx="2926080" cy="1005840"/>
            <a:chOff x="0" y="0"/>
            <a:chExt cx="390144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014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90144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Google Drive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fichiers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5212140">
            <a:off x="4098493" y="3104198"/>
            <a:ext cx="581254" cy="0"/>
          </a:xfrm>
          <a:prstGeom prst="line">
            <a:avLst/>
          </a:prstGeom>
          <a:ln cap="rnd" w="9525">
            <a:solidFill>
              <a:srgbClr val="5F6B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rot="5212140">
            <a:off x="4098493" y="4658678"/>
            <a:ext cx="581254" cy="0"/>
          </a:xfrm>
          <a:prstGeom prst="line">
            <a:avLst/>
          </a:prstGeom>
          <a:ln cap="rnd" w="9525">
            <a:solidFill>
              <a:srgbClr val="5F6B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 rot="5212140">
            <a:off x="4098493" y="6487478"/>
            <a:ext cx="581254" cy="0"/>
          </a:xfrm>
          <a:prstGeom prst="line">
            <a:avLst/>
          </a:prstGeom>
          <a:ln cap="rnd" w="9525">
            <a:solidFill>
              <a:srgbClr val="5F6B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 rot="1948020">
            <a:off x="6488640" y="5042725"/>
            <a:ext cx="1013050" cy="0"/>
          </a:xfrm>
          <a:prstGeom prst="line">
            <a:avLst/>
          </a:prstGeom>
          <a:ln cap="rnd" w="9525">
            <a:solidFill>
              <a:srgbClr val="5F6B7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rot="1615500">
            <a:off x="6515852" y="6048566"/>
            <a:ext cx="958625" cy="0"/>
          </a:xfrm>
          <a:prstGeom prst="line">
            <a:avLst/>
          </a:prstGeom>
          <a:ln cap="rnd" w="9525">
            <a:solidFill>
              <a:srgbClr val="5F6B7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6" id="46"/>
          <p:cNvGrpSpPr/>
          <p:nvPr/>
        </p:nvGrpSpPr>
        <p:grpSpPr>
          <a:xfrm rot="0">
            <a:off x="901703" y="1724663"/>
            <a:ext cx="9900923" cy="6334763"/>
            <a:chOff x="0" y="0"/>
            <a:chExt cx="13201231" cy="84463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201269" cy="8446389"/>
            </a:xfrm>
            <a:custGeom>
              <a:avLst/>
              <a:gdLst/>
              <a:ahLst/>
              <a:cxnLst/>
              <a:rect r="r" b="b" t="t" l="l"/>
              <a:pathLst>
                <a:path h="8446389" w="13201269">
                  <a:moveTo>
                    <a:pt x="0" y="122428"/>
                  </a:moveTo>
                  <a:cubicBezTo>
                    <a:pt x="0" y="54737"/>
                    <a:pt x="54737" y="0"/>
                    <a:pt x="122428" y="0"/>
                  </a:cubicBezTo>
                  <a:lnTo>
                    <a:pt x="13078840" y="0"/>
                  </a:lnTo>
                  <a:cubicBezTo>
                    <a:pt x="13146404" y="0"/>
                    <a:pt x="13201269" y="54737"/>
                    <a:pt x="13201269" y="122428"/>
                  </a:cubicBezTo>
                  <a:lnTo>
                    <a:pt x="13201269" y="8323961"/>
                  </a:lnTo>
                  <a:cubicBezTo>
                    <a:pt x="13201269" y="8391525"/>
                    <a:pt x="13146531" y="8446389"/>
                    <a:pt x="13078840" y="8446389"/>
                  </a:cubicBezTo>
                  <a:lnTo>
                    <a:pt x="122428" y="8446389"/>
                  </a:lnTo>
                  <a:cubicBezTo>
                    <a:pt x="54864" y="8446389"/>
                    <a:pt x="0" y="8391652"/>
                    <a:pt x="0" y="832396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090" t="0" r="-32090" b="0"/>
              </a:stretch>
            </a:blipFill>
            <a:ln w="25400" cap="sq">
              <a:solidFill>
                <a:srgbClr val="B9E6F2"/>
              </a:solidFill>
              <a:prstDash val="dash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6949440" y="1920240"/>
            <a:ext cx="3657600" cy="457200"/>
            <a:chOff x="0" y="0"/>
            <a:chExt cx="4876800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8768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5F6B7A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Docker Compose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338560" y="1819275"/>
            <a:ext cx="6035040" cy="622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Monolithe modulaire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un module par domaine (comptes, promotions, documents, projets, suivi).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Les modules ne se parlent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que par leurs services publics, pour pouvoir en extraire un plus tard.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Mêmes images Docker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en dev, recette et production : seule la configuration change.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CI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GitHub Actions teste et construit les images.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4" tooltip="https://laplateforme-team-ggwqda0j.atlassian.net/wiki/spaces/ProjetGlob/pages/79265794"/>
                </a:rPr>
                <a:t>Architecture &amp; contraintes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laplateforme-team-ggwqda0j.atlassian.net/wiki/spaces/ProjetGlob/pages/81395965"/>
                </a:rPr>
                <a:t>Déploiement V1 / V2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SÉCURITÉ : LES 3 RÈGLES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737360"/>
            <a:ext cx="5359051" cy="6492240"/>
            <a:chOff x="0" y="0"/>
            <a:chExt cx="7145401" cy="8656320"/>
          </a:xfrm>
        </p:grpSpPr>
        <p:sp>
          <p:nvSpPr>
            <p:cNvPr name="Freeform 12" id="12" descr="/tmp/claude-0/-home-claude/77b501a0-5868-55ab-b1fe-b843a7d2ca4a/scratchpad/onb/img/secu.jpg"/>
            <p:cNvSpPr/>
            <p:nvPr/>
          </p:nvSpPr>
          <p:spPr>
            <a:xfrm flipH="false" flipV="false" rot="0">
              <a:off x="0" y="0"/>
              <a:ext cx="7145401" cy="8656320"/>
            </a:xfrm>
            <a:custGeom>
              <a:avLst/>
              <a:gdLst/>
              <a:ahLst/>
              <a:cxnLst/>
              <a:rect r="r" b="b" t="t" l="l"/>
              <a:pathLst>
                <a:path h="8656320" w="7145401">
                  <a:moveTo>
                    <a:pt x="0" y="0"/>
                  </a:moveTo>
                  <a:lnTo>
                    <a:pt x="7145401" y="0"/>
                  </a:lnTo>
                  <a:lnTo>
                    <a:pt x="7145401" y="8656320"/>
                  </a:lnTo>
                  <a:lnTo>
                    <a:pt x="0" y="8656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68263" y="1816103"/>
            <a:ext cx="939803" cy="939803"/>
            <a:chOff x="0" y="0"/>
            <a:chExt cx="1253071" cy="125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7680960" y="1828800"/>
            <a:ext cx="914400" cy="914400"/>
            <a:chOff x="0" y="0"/>
            <a:chExt cx="12192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192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61120" y="1792224"/>
            <a:ext cx="8412480" cy="548640"/>
            <a:chOff x="0" y="0"/>
            <a:chExt cx="11216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216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Connexion Google uniquement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961120" y="2367915"/>
            <a:ext cx="84124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OAuth2 / OpenID Connect via Spring Security. Seul le domaine La Plateforme est accepté, aucun mot de passe stocké.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68263" y="3919223"/>
            <a:ext cx="939803" cy="939803"/>
            <a:chOff x="0" y="0"/>
            <a:chExt cx="1253071" cy="1253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680960" y="3931920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2192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961120" y="3895344"/>
            <a:ext cx="8412480" cy="548640"/>
            <a:chOff x="0" y="0"/>
            <a:chExt cx="112166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1216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Les droits se vérifient côté serveur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961120" y="4471035"/>
            <a:ext cx="84124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Rôle par URL, @PreAuthorize sur les services, et contrôle du propriétaire de la donnée. Masquer un bouton ne suffit jamais.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7668263" y="6022343"/>
            <a:ext cx="939803" cy="939803"/>
            <a:chOff x="0" y="0"/>
            <a:chExt cx="1253071" cy="12530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680960" y="6035040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2192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61120" y="5998464"/>
            <a:ext cx="8412480" cy="548640"/>
            <a:chOff x="0" y="0"/>
            <a:chExt cx="1121664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166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1216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Aucun secret dans le dépôt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961120" y="6574155"/>
            <a:ext cx="841248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Clés et mots de passe dans les variables d'environnement. Les fichiers restent sur le Drive de l'école, jamais en lien public.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miro.com/app/board/uXjVEdlIf0E=/?moveToWidget=3458764686772737704"/>
                </a:rPr>
                <a:t>Schémas connexion et contrôle d'accès (Miro)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 BASE DE DONNÉES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828800"/>
            <a:ext cx="10241280" cy="5570353"/>
            <a:chOff x="0" y="0"/>
            <a:chExt cx="13655040" cy="7427138"/>
          </a:xfrm>
        </p:grpSpPr>
        <p:sp>
          <p:nvSpPr>
            <p:cNvPr name="Freeform 12" id="12" descr="/tmp/claude-0/-home-claude/77b501a0-5868-55ab-b1fe-b843a7d2ca4a/scratchpad/onb/img/mcd.png"/>
            <p:cNvSpPr/>
            <p:nvPr/>
          </p:nvSpPr>
          <p:spPr>
            <a:xfrm flipH="false" flipV="false" rot="0">
              <a:off x="0" y="0"/>
              <a:ext cx="13655039" cy="7427087"/>
            </a:xfrm>
            <a:custGeom>
              <a:avLst/>
              <a:gdLst/>
              <a:ahLst/>
              <a:cxnLst/>
              <a:rect r="r" b="b" t="t" l="l"/>
              <a:pathLst>
                <a:path h="7427087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7427087"/>
                  </a:lnTo>
                  <a:lnTo>
                    <a:pt x="0" y="7427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1816103"/>
            <a:ext cx="10266683" cy="5595747"/>
            <a:chOff x="0" y="0"/>
            <a:chExt cx="13688911" cy="74609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88949" cy="7460996"/>
            </a:xfrm>
            <a:custGeom>
              <a:avLst/>
              <a:gdLst/>
              <a:ahLst/>
              <a:cxnLst/>
              <a:rect r="r" b="b" t="t" l="l"/>
              <a:pathLst>
                <a:path h="7460996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7460996"/>
                  </a:lnTo>
                  <a:lnTo>
                    <a:pt x="0" y="74609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30" t="0" r="-19930" b="0"/>
              </a:stretch>
            </a:blipFill>
            <a:ln w="25400" cap="sq">
              <a:solidFill>
                <a:srgbClr val="B9E6F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704320" y="1819275"/>
            <a:ext cx="5669280" cy="604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XT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un utilisateur est soit étudiant, soit personnel.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Inscriptions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inscription_promotion garde l'historique (redoublement, changement).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Pièces exigées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selon le type de promotion.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Flyway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ne jamais modifier une migration appliquée. Toujours un nouveau fichier V{n}__…sql.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laplateforme-team-ggwqda0j.atlassian.net/wiki/spaces/ProjetGlob/pages/80642049"/>
                </a:rPr>
                <a:t>Modélisation &amp; BDD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6" tooltip="https://laplateforme-team-ggwqda0j.atlassian.net/wiki/spaces/ProjetGlob/pages/80150552"/>
                </a:rPr>
                <a:t>Dictionnaire de données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7" tooltip="https://miro.com/app/board/uXjVEdlIf0E=/?moveToWidget=3458764686846792837"/>
                </a:rPr>
                <a:t>MCD (Miro)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 DIAGRAMME AU CODE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828800"/>
            <a:ext cx="10241280" cy="6177972"/>
            <a:chOff x="0" y="0"/>
            <a:chExt cx="13655040" cy="8237296"/>
          </a:xfrm>
        </p:grpSpPr>
        <p:sp>
          <p:nvSpPr>
            <p:cNvPr name="Freeform 12" id="12" descr="/tmp/claude-0/-home-claude/77b501a0-5868-55ab-b1fe-b843a7d2ca4a/scratchpad/onb/img/classes.png"/>
            <p:cNvSpPr/>
            <p:nvPr/>
          </p:nvSpPr>
          <p:spPr>
            <a:xfrm flipH="false" flipV="false" rot="0">
              <a:off x="0" y="0"/>
              <a:ext cx="13655039" cy="8237347"/>
            </a:xfrm>
            <a:custGeom>
              <a:avLst/>
              <a:gdLst/>
              <a:ahLst/>
              <a:cxnLst/>
              <a:rect r="r" b="b" t="t" l="l"/>
              <a:pathLst>
                <a:path h="8237347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237347"/>
                  </a:lnTo>
                  <a:lnTo>
                    <a:pt x="0" y="8237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1816103"/>
            <a:ext cx="10266683" cy="6203366"/>
            <a:chOff x="0" y="0"/>
            <a:chExt cx="13688911" cy="82711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88949" cy="8271129"/>
            </a:xfrm>
            <a:custGeom>
              <a:avLst/>
              <a:gdLst/>
              <a:ahLst/>
              <a:cxnLst/>
              <a:rect r="r" b="b" t="t" l="l"/>
              <a:pathLst>
                <a:path h="8271129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8271129"/>
                  </a:lnTo>
                  <a:lnTo>
                    <a:pt x="0" y="82711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523" t="0" r="-27523" b="0"/>
              </a:stretch>
            </a:blipFill>
            <a:ln w="25400" cap="sq">
              <a:solidFill>
                <a:srgbClr val="B9E6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691623" y="1816103"/>
            <a:ext cx="5694683" cy="1214123"/>
            <a:chOff x="0" y="0"/>
            <a:chExt cx="7592911" cy="1618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929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5929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7443470" y="0"/>
                  </a:lnTo>
                  <a:cubicBezTo>
                    <a:pt x="7526020" y="0"/>
                    <a:pt x="7592949" y="66929"/>
                    <a:pt x="7592949" y="149479"/>
                  </a:cubicBezTo>
                  <a:lnTo>
                    <a:pt x="7592949" y="1469390"/>
                  </a:lnTo>
                  <a:cubicBezTo>
                    <a:pt x="7592949" y="1551940"/>
                    <a:pt x="7526020" y="1618869"/>
                    <a:pt x="74434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978640" y="1828800"/>
            <a:ext cx="5212080" cy="1188720"/>
            <a:chOff x="0" y="0"/>
            <a:chExt cx="6949440" cy="158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9494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Controller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reçoit la requête HTTP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691623" y="3370583"/>
            <a:ext cx="5694683" cy="1214123"/>
            <a:chOff x="0" y="0"/>
            <a:chExt cx="7592911" cy="16188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929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5929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7443470" y="0"/>
                  </a:lnTo>
                  <a:cubicBezTo>
                    <a:pt x="7526020" y="0"/>
                    <a:pt x="7592949" y="66929"/>
                    <a:pt x="7592949" y="149479"/>
                  </a:cubicBezTo>
                  <a:lnTo>
                    <a:pt x="7592949" y="1469390"/>
                  </a:lnTo>
                  <a:cubicBezTo>
                    <a:pt x="7592949" y="1551940"/>
                    <a:pt x="7526020" y="1618869"/>
                    <a:pt x="74434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978640" y="3383280"/>
            <a:ext cx="5212080" cy="1188720"/>
            <a:chOff x="0" y="0"/>
            <a:chExt cx="6949440" cy="1584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9494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Service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orchestre : transaction, Drive, droits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691623" y="4925063"/>
            <a:ext cx="5694683" cy="1214123"/>
            <a:chOff x="0" y="0"/>
            <a:chExt cx="7592911" cy="1618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929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5929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7443470" y="0"/>
                  </a:lnTo>
                  <a:cubicBezTo>
                    <a:pt x="7526020" y="0"/>
                    <a:pt x="7592949" y="66929"/>
                    <a:pt x="7592949" y="149479"/>
                  </a:cubicBezTo>
                  <a:lnTo>
                    <a:pt x="7592949" y="1469390"/>
                  </a:lnTo>
                  <a:cubicBezTo>
                    <a:pt x="7592949" y="1551940"/>
                    <a:pt x="7526020" y="1618869"/>
                    <a:pt x="74434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1978640" y="4937760"/>
            <a:ext cx="5212080" cy="1188720"/>
            <a:chOff x="0" y="0"/>
            <a:chExt cx="6949440" cy="1584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9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9494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Entité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porte les règles : deposer(), refuser()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91623" y="6479543"/>
            <a:ext cx="5694683" cy="1214123"/>
            <a:chOff x="0" y="0"/>
            <a:chExt cx="7592911" cy="16188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592949" cy="1618869"/>
            </a:xfrm>
            <a:custGeom>
              <a:avLst/>
              <a:gdLst/>
              <a:ahLst/>
              <a:cxnLst/>
              <a:rect r="r" b="b" t="t" l="l"/>
              <a:pathLst>
                <a:path h="1618869" w="7592949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7443470" y="0"/>
                  </a:lnTo>
                  <a:cubicBezTo>
                    <a:pt x="7526020" y="0"/>
                    <a:pt x="7592949" y="66929"/>
                    <a:pt x="7592949" y="149479"/>
                  </a:cubicBezTo>
                  <a:lnTo>
                    <a:pt x="7592949" y="1469390"/>
                  </a:lnTo>
                  <a:cubicBezTo>
                    <a:pt x="7592949" y="1551940"/>
                    <a:pt x="7526020" y="1618869"/>
                    <a:pt x="7443470" y="1618869"/>
                  </a:cubicBezTo>
                  <a:lnTo>
                    <a:pt x="149479" y="1618869"/>
                  </a:lnTo>
                  <a:cubicBezTo>
                    <a:pt x="66929" y="1618869"/>
                    <a:pt x="0" y="1551940"/>
                    <a:pt x="0" y="1469390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978640" y="6492240"/>
            <a:ext cx="5212080" cy="1188720"/>
            <a:chOff x="0" y="0"/>
            <a:chExt cx="694944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34" r="0" b="-354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694944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Repository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0292F"/>
                  </a:solidFill>
                  <a:latin typeface="Arial"/>
                  <a:ea typeface="Arial"/>
                  <a:cs typeface="Arial"/>
                  <a:sym typeface="Arial"/>
                </a:rPr>
                <a:t>lit et écrit en base (JPA)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laplateforme-team-ggwqda0j.atlassian.net/wiki/spaces/ProjetGlob/pages/80150618"/>
                </a:rPr>
                <a:t>Diagramme de classes (Confluence)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6" tooltip="https://miro.com/app/board/uXjVEdlIf0E=/?moveToWidget=3458764686846956960"/>
                </a:rPr>
                <a:t>Schéma source (Miro)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EXEMPLE : DÉPOSER UN DOCUMENT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737360"/>
            <a:ext cx="10241280" cy="6458398"/>
            <a:chOff x="0" y="0"/>
            <a:chExt cx="13655040" cy="8611197"/>
          </a:xfrm>
        </p:grpSpPr>
        <p:sp>
          <p:nvSpPr>
            <p:cNvPr name="Freeform 12" id="12" descr="/tmp/claude-0/-home-claude/77b501a0-5868-55ab-b1fe-b843a7d2ca4a/scratchpad/onb/img/sequence.png"/>
            <p:cNvSpPr/>
            <p:nvPr/>
          </p:nvSpPr>
          <p:spPr>
            <a:xfrm flipH="false" flipV="false" rot="0">
              <a:off x="0" y="0"/>
              <a:ext cx="13655039" cy="8611235"/>
            </a:xfrm>
            <a:custGeom>
              <a:avLst/>
              <a:gdLst/>
              <a:ahLst/>
              <a:cxnLst/>
              <a:rect r="r" b="b" t="t" l="l"/>
              <a:pathLst>
                <a:path h="8611235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8611235"/>
                  </a:lnTo>
                  <a:lnTo>
                    <a:pt x="0" y="8611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1703" y="1724663"/>
            <a:ext cx="10266683" cy="6483801"/>
            <a:chOff x="0" y="0"/>
            <a:chExt cx="13688911" cy="86450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88949" cy="8645017"/>
            </a:xfrm>
            <a:custGeom>
              <a:avLst/>
              <a:gdLst/>
              <a:ahLst/>
              <a:cxnLst/>
              <a:rect r="r" b="b" t="t" l="l"/>
              <a:pathLst>
                <a:path h="8645017" w="13688949">
                  <a:moveTo>
                    <a:pt x="0" y="0"/>
                  </a:moveTo>
                  <a:lnTo>
                    <a:pt x="13688949" y="0"/>
                  </a:lnTo>
                  <a:lnTo>
                    <a:pt x="13688949" y="8645017"/>
                  </a:lnTo>
                  <a:lnTo>
                    <a:pt x="0" y="86450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028" t="0" r="-31028" b="0"/>
              </a:stretch>
            </a:blipFill>
            <a:ln w="25400" cap="sq">
              <a:solidFill>
                <a:srgbClr val="B9E6F2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704320" y="1819275"/>
            <a:ext cx="5669280" cy="622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Spring Security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filtre la requête avant le controller.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Fichier invalide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400. Sinon envoi sur Drive, la base ne garde que l'identifiant.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Etudiant.deposer()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crée le document : le service orchestre, l'entité décide.</a:t>
            </a:r>
          </a:p>
          <a:p>
            <a:pPr algn="l" marL="579120" indent="-28956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30292F"/>
                </a:solidFill>
                <a:latin typeface="Arial Bold"/>
                <a:ea typeface="Arial Bold"/>
                <a:cs typeface="Arial Bold"/>
                <a:sym typeface="Arial Bold"/>
              </a:rPr>
              <a:t>Si le save échoue,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le fichier est supprimé du Drive. Un batch nocturne nettoie les orphelins.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laplateforme-team-ggwqda0j.atlassian.net/wiki/spaces/ProjetGlob/pages/80150636"/>
                </a:rPr>
                <a:t>Diagramme de séquence (Confluence)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6" tooltip="https://laplateforme-team-ggwqda0j.atlassian.net/wiki/spaces/ProjetGlob/pages/81199229"/>
                </a:rPr>
                <a:t>User stories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005840"/>
            <a:chOff x="0" y="0"/>
            <a:chExt cx="219456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94560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 PREMIÈRE SEMAINE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824960" y="9509760"/>
            <a:ext cx="731520" cy="457200"/>
            <a:chOff x="0" y="0"/>
            <a:chExt cx="97536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9509760"/>
            <a:ext cx="7315200" cy="457200"/>
            <a:chOff x="0" y="0"/>
            <a:chExt cx="9753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75360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Onboarding · Projet Globe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1703" y="1816103"/>
            <a:ext cx="3500123" cy="1122683"/>
            <a:chOff x="0" y="0"/>
            <a:chExt cx="4666831" cy="1496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66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666742">
                  <a:moveTo>
                    <a:pt x="0" y="0"/>
                  </a:moveTo>
                  <a:lnTo>
                    <a:pt x="3918331" y="0"/>
                  </a:lnTo>
                  <a:lnTo>
                    <a:pt x="4666742" y="748411"/>
                  </a:lnTo>
                  <a:lnTo>
                    <a:pt x="3918331" y="1496822"/>
                  </a:lnTo>
                  <a:lnTo>
                    <a:pt x="0" y="1496822"/>
                  </a:lnTo>
                  <a:lnTo>
                    <a:pt x="748411" y="748411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1828800"/>
            <a:ext cx="2560320" cy="1097280"/>
            <a:chOff x="0" y="0"/>
            <a:chExt cx="34137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4137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Ticket Jira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230119" y="1816103"/>
            <a:ext cx="3500123" cy="1122683"/>
            <a:chOff x="0" y="0"/>
            <a:chExt cx="4666831" cy="1496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66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666742">
                  <a:moveTo>
                    <a:pt x="0" y="0"/>
                  </a:moveTo>
                  <a:lnTo>
                    <a:pt x="3918331" y="0"/>
                  </a:lnTo>
                  <a:lnTo>
                    <a:pt x="4666742" y="748411"/>
                  </a:lnTo>
                  <a:lnTo>
                    <a:pt x="3918331" y="1496822"/>
                  </a:lnTo>
                  <a:lnTo>
                    <a:pt x="0" y="1496822"/>
                  </a:lnTo>
                  <a:lnTo>
                    <a:pt x="748411" y="74841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700016" y="1828800"/>
            <a:ext cx="2560320" cy="1097280"/>
            <a:chOff x="0" y="0"/>
            <a:chExt cx="341376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4137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Branche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58535" y="1816103"/>
            <a:ext cx="3500123" cy="1122683"/>
            <a:chOff x="0" y="0"/>
            <a:chExt cx="4666831" cy="14969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6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666742">
                  <a:moveTo>
                    <a:pt x="0" y="0"/>
                  </a:moveTo>
                  <a:lnTo>
                    <a:pt x="3918331" y="0"/>
                  </a:lnTo>
                  <a:lnTo>
                    <a:pt x="4666742" y="748411"/>
                  </a:lnTo>
                  <a:lnTo>
                    <a:pt x="3918331" y="1496822"/>
                  </a:lnTo>
                  <a:lnTo>
                    <a:pt x="0" y="1496822"/>
                  </a:lnTo>
                  <a:lnTo>
                    <a:pt x="748411" y="748411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028432" y="1828800"/>
            <a:ext cx="2560320" cy="1097280"/>
            <a:chOff x="0" y="0"/>
            <a:chExt cx="341376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4137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Pull Request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86951" y="1816103"/>
            <a:ext cx="3500123" cy="1122683"/>
            <a:chOff x="0" y="0"/>
            <a:chExt cx="4666831" cy="14969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6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666742">
                  <a:moveTo>
                    <a:pt x="0" y="0"/>
                  </a:moveTo>
                  <a:lnTo>
                    <a:pt x="3918331" y="0"/>
                  </a:lnTo>
                  <a:lnTo>
                    <a:pt x="4666742" y="748411"/>
                  </a:lnTo>
                  <a:lnTo>
                    <a:pt x="3918331" y="1496822"/>
                  </a:lnTo>
                  <a:lnTo>
                    <a:pt x="0" y="1496822"/>
                  </a:lnTo>
                  <a:lnTo>
                    <a:pt x="748411" y="748411"/>
                  </a:lnTo>
                  <a:close/>
                </a:path>
              </a:pathLst>
            </a:custGeom>
            <a:solidFill>
              <a:srgbClr val="00B4D8"/>
            </a:solidFill>
            <a:ln w="25400" cap="sq">
              <a:solidFill>
                <a:srgbClr val="00B4D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356848" y="1828800"/>
            <a:ext cx="2560320" cy="1097280"/>
            <a:chOff x="0" y="0"/>
            <a:chExt cx="341376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4137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Revue + CI verte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215367" y="1816103"/>
            <a:ext cx="3500123" cy="1122683"/>
            <a:chOff x="0" y="0"/>
            <a:chExt cx="4666831" cy="14969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66742" cy="1496822"/>
            </a:xfrm>
            <a:custGeom>
              <a:avLst/>
              <a:gdLst/>
              <a:ahLst/>
              <a:cxnLst/>
              <a:rect r="r" b="b" t="t" l="l"/>
              <a:pathLst>
                <a:path h="1496822" w="4666742">
                  <a:moveTo>
                    <a:pt x="0" y="0"/>
                  </a:moveTo>
                  <a:lnTo>
                    <a:pt x="3918331" y="0"/>
                  </a:lnTo>
                  <a:lnTo>
                    <a:pt x="4666742" y="748411"/>
                  </a:lnTo>
                  <a:lnTo>
                    <a:pt x="3918331" y="1496822"/>
                  </a:lnTo>
                  <a:lnTo>
                    <a:pt x="0" y="1496822"/>
                  </a:lnTo>
                  <a:lnTo>
                    <a:pt x="748411" y="748411"/>
                  </a:lnTo>
                  <a:close/>
                </a:path>
              </a:pathLst>
            </a:custGeom>
            <a:solidFill>
              <a:srgbClr val="0077B6"/>
            </a:solidFill>
            <a:ln w="25400" cap="sq">
              <a:solidFill>
                <a:srgbClr val="0077B6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685264" y="1828800"/>
            <a:ext cx="2560320" cy="1097280"/>
            <a:chOff x="0" y="0"/>
            <a:chExt cx="341376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1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41376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Merge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01703" y="3462023"/>
            <a:ext cx="3865883" cy="3042923"/>
            <a:chOff x="0" y="0"/>
            <a:chExt cx="5154511" cy="40572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54549" cy="4057269"/>
            </a:xfrm>
            <a:custGeom>
              <a:avLst/>
              <a:gdLst/>
              <a:ahLst/>
              <a:cxnLst/>
              <a:rect r="r" b="b" t="t" l="l"/>
              <a:pathLst>
                <a:path h="4057269" w="515454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4957826" y="0"/>
                  </a:lnTo>
                  <a:cubicBezTo>
                    <a:pt x="5066411" y="0"/>
                    <a:pt x="5154549" y="88011"/>
                    <a:pt x="5154549" y="196723"/>
                  </a:cubicBezTo>
                  <a:lnTo>
                    <a:pt x="5154549" y="3860546"/>
                  </a:lnTo>
                  <a:cubicBezTo>
                    <a:pt x="5154549" y="3969131"/>
                    <a:pt x="5066538" y="4057269"/>
                    <a:pt x="4957826" y="4057269"/>
                  </a:cubicBezTo>
                  <a:lnTo>
                    <a:pt x="196723" y="4057269"/>
                  </a:lnTo>
                  <a:cubicBezTo>
                    <a:pt x="88011" y="4057269"/>
                    <a:pt x="0" y="3969131"/>
                    <a:pt x="0" y="3860546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88720" y="3694176"/>
            <a:ext cx="3291840" cy="548640"/>
            <a:chOff x="0" y="0"/>
            <a:chExt cx="43891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Jour 1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88720" y="4370070"/>
            <a:ext cx="32918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Accès Jira, Confluence, Miro, GitHub. Lancer le projet en local (docker compose up).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107943" y="3462023"/>
            <a:ext cx="3865883" cy="3042923"/>
            <a:chOff x="0" y="0"/>
            <a:chExt cx="5154511" cy="40572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54549" cy="4057269"/>
            </a:xfrm>
            <a:custGeom>
              <a:avLst/>
              <a:gdLst/>
              <a:ahLst/>
              <a:cxnLst/>
              <a:rect r="r" b="b" t="t" l="l"/>
              <a:pathLst>
                <a:path h="4057269" w="515454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4957826" y="0"/>
                  </a:lnTo>
                  <a:cubicBezTo>
                    <a:pt x="5066411" y="0"/>
                    <a:pt x="5154549" y="88011"/>
                    <a:pt x="5154549" y="196723"/>
                  </a:cubicBezTo>
                  <a:lnTo>
                    <a:pt x="5154549" y="3860546"/>
                  </a:lnTo>
                  <a:cubicBezTo>
                    <a:pt x="5154549" y="3969131"/>
                    <a:pt x="5066538" y="4057269"/>
                    <a:pt x="4957826" y="4057269"/>
                  </a:cubicBezTo>
                  <a:lnTo>
                    <a:pt x="196723" y="4057269"/>
                  </a:lnTo>
                  <a:cubicBezTo>
                    <a:pt x="88011" y="4057269"/>
                    <a:pt x="0" y="3969131"/>
                    <a:pt x="0" y="3860546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394960" y="3694176"/>
            <a:ext cx="3291840" cy="548640"/>
            <a:chOff x="0" y="0"/>
            <a:chExt cx="43891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Jour 2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394960" y="4370070"/>
            <a:ext cx="32918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Lire Confluence : architecture, base de données, user stories.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314183" y="3462023"/>
            <a:ext cx="3865883" cy="3042923"/>
            <a:chOff x="0" y="0"/>
            <a:chExt cx="5154511" cy="40572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54549" cy="4057269"/>
            </a:xfrm>
            <a:custGeom>
              <a:avLst/>
              <a:gdLst/>
              <a:ahLst/>
              <a:cxnLst/>
              <a:rect r="r" b="b" t="t" l="l"/>
              <a:pathLst>
                <a:path h="4057269" w="515454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4957826" y="0"/>
                  </a:lnTo>
                  <a:cubicBezTo>
                    <a:pt x="5066411" y="0"/>
                    <a:pt x="5154549" y="88011"/>
                    <a:pt x="5154549" y="196723"/>
                  </a:cubicBezTo>
                  <a:lnTo>
                    <a:pt x="5154549" y="3860546"/>
                  </a:lnTo>
                  <a:cubicBezTo>
                    <a:pt x="5154549" y="3969131"/>
                    <a:pt x="5066538" y="4057269"/>
                    <a:pt x="4957826" y="4057269"/>
                  </a:cubicBezTo>
                  <a:lnTo>
                    <a:pt x="196723" y="4057269"/>
                  </a:lnTo>
                  <a:cubicBezTo>
                    <a:pt x="88011" y="4057269"/>
                    <a:pt x="0" y="3969131"/>
                    <a:pt x="0" y="3860546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0" y="3694176"/>
            <a:ext cx="3291840" cy="548640"/>
            <a:chOff x="0" y="0"/>
            <a:chExt cx="43891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Jour 3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601200" y="4370070"/>
            <a:ext cx="32918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Premier petit ticket, en binôme avec Lucas.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520423" y="3462023"/>
            <a:ext cx="3865883" cy="3042923"/>
            <a:chOff x="0" y="0"/>
            <a:chExt cx="5154511" cy="40572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54549" cy="4057269"/>
            </a:xfrm>
            <a:custGeom>
              <a:avLst/>
              <a:gdLst/>
              <a:ahLst/>
              <a:cxnLst/>
              <a:rect r="r" b="b" t="t" l="l"/>
              <a:pathLst>
                <a:path h="4057269" w="5154549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4957826" y="0"/>
                  </a:lnTo>
                  <a:cubicBezTo>
                    <a:pt x="5066411" y="0"/>
                    <a:pt x="5154549" y="88011"/>
                    <a:pt x="5154549" y="196723"/>
                  </a:cubicBezTo>
                  <a:lnTo>
                    <a:pt x="5154549" y="3860546"/>
                  </a:lnTo>
                  <a:cubicBezTo>
                    <a:pt x="5154549" y="3969131"/>
                    <a:pt x="5066538" y="4057269"/>
                    <a:pt x="4957826" y="4057269"/>
                  </a:cubicBezTo>
                  <a:lnTo>
                    <a:pt x="196723" y="4057269"/>
                  </a:lnTo>
                  <a:cubicBezTo>
                    <a:pt x="88011" y="4057269"/>
                    <a:pt x="0" y="3969131"/>
                    <a:pt x="0" y="3860546"/>
                  </a:cubicBezTo>
                  <a:close/>
                </a:path>
              </a:pathLst>
            </a:custGeom>
            <a:solidFill>
              <a:srgbClr val="E2F7FB"/>
            </a:solidFill>
            <a:ln w="25400" cap="sq">
              <a:solidFill>
                <a:srgbClr val="E2F7F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807440" y="3694176"/>
            <a:ext cx="3291840" cy="548640"/>
            <a:chOff x="0" y="0"/>
            <a:chExt cx="43891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0" cy="731520"/>
            </a:xfrm>
            <a:custGeom>
              <a:avLst/>
              <a:gdLst/>
              <a:ahLst/>
              <a:cxnLst/>
              <a:rect r="r" b="b" t="t" l="l"/>
              <a:pathLst>
                <a:path h="73152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4389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77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Jour 4-5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807440" y="4370070"/>
            <a:ext cx="3291840" cy="193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Première Pull Request et sa revue. Point avec l'équipe.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6939915"/>
            <a:ext cx="16459200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77B6"/>
                </a:solidFill>
                <a:latin typeface="Arial Bold"/>
                <a:ea typeface="Arial Bold"/>
                <a:cs typeface="Arial Bold"/>
                <a:sym typeface="Arial Bold"/>
              </a:rPr>
              <a:t>Un ticket est terminé quand : </a:t>
            </a:r>
            <a:r>
              <a:rPr lang="en-US" sz="2400">
                <a:solidFill>
                  <a:srgbClr val="30292F"/>
                </a:solidFill>
                <a:latin typeface="Arial"/>
                <a:ea typeface="Arial"/>
                <a:cs typeface="Arial"/>
                <a:sym typeface="Arial"/>
              </a:rPr>
              <a:t>tests écrits, Swagger à jour, documentation mise à jour en même temps (Just in Time), revue validée.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14400" y="8503920"/>
            <a:ext cx="16459200" cy="548640"/>
            <a:chOff x="0" y="0"/>
            <a:chExt cx="2194560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2194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029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Pour aller plus loin :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4" tooltip="https://laplateforme-team-ggwqda0j.atlassian.net/jira/software/projects/GLOBE/boards/137"/>
                </a:rPr>
                <a:t>Tableau Jira GLOBE</a:t>
              </a:r>
              <a:r>
                <a:rPr lang="en-US" sz="2199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  ·  </a:t>
              </a:r>
              <a:r>
                <a:rPr lang="en-US" sz="2199" u="sng">
                  <a:solidFill>
                    <a:srgbClr val="0077B6"/>
                  </a:solidFill>
                  <a:latin typeface="Arial"/>
                  <a:ea typeface="Arial"/>
                  <a:cs typeface="Arial"/>
                  <a:sym typeface="Arial"/>
                  <a:hlinkClick r:id="rId5" tooltip="https://laplateforme-team-ggwqda0j.atlassian.net/wiki/x/sACwB"/>
                </a:rPr>
                <a:t>Espace Confluence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DAHXzIc_Tm4</dc:identifier>
  <dcterms:modified xsi:type="dcterms:W3CDTF">2011-08-01T06:04:30Z</dcterms:modified>
  <cp:revision>1</cp:revision>
  <dc:title>Onboarding_Globe.pptx</dc:title>
</cp:coreProperties>
</file>